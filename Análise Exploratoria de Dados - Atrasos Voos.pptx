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537" r:id="rId1"/>
  </p:sldMasterIdLst>
  <p:sldIdLst>
    <p:sldId id="256" r:id="rId2"/>
    <p:sldId id="257" r:id="rId3"/>
    <p:sldId id="260" r:id="rId4"/>
    <p:sldId id="258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25" autoAdjust="0"/>
    <p:restoredTop sz="94660"/>
  </p:normalViewPr>
  <p:slideViewPr>
    <p:cSldViewPr snapToGrid="0">
      <p:cViewPr>
        <p:scale>
          <a:sx n="84" d="100"/>
          <a:sy n="84" d="100"/>
        </p:scale>
        <p:origin x="-4" y="-4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71EF7-E44F-4D19-A5D6-560894A90488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E604D-EBBE-4F61-93CA-3276DDFF01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0744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71EF7-E44F-4D19-A5D6-560894A90488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E604D-EBBE-4F61-93CA-3276DDFF01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1685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71EF7-E44F-4D19-A5D6-560894A90488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E604D-EBBE-4F61-93CA-3276DDFF01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0299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71EF7-E44F-4D19-A5D6-560894A90488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E604D-EBBE-4F61-93CA-3276DDFF01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5801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71EF7-E44F-4D19-A5D6-560894A90488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E604D-EBBE-4F61-93CA-3276DDFF01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6336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71EF7-E44F-4D19-A5D6-560894A90488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E604D-EBBE-4F61-93CA-3276DDFF01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6623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71EF7-E44F-4D19-A5D6-560894A90488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E604D-EBBE-4F61-93CA-3276DDFF01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7531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71EF7-E44F-4D19-A5D6-560894A90488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E604D-EBBE-4F61-93CA-3276DDFF01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5828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71EF7-E44F-4D19-A5D6-560894A90488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E604D-EBBE-4F61-93CA-3276DDFF01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0885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71EF7-E44F-4D19-A5D6-560894A90488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E604D-EBBE-4F61-93CA-3276DDFF01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8574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71EF7-E44F-4D19-A5D6-560894A90488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E604D-EBBE-4F61-93CA-3276DDFF01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5941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A371EF7-E44F-4D19-A5D6-560894A90488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F60E604D-EBBE-4F61-93CA-3276DDFF01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0832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38" r:id="rId1"/>
    <p:sldLayoutId id="2147484539" r:id="rId2"/>
    <p:sldLayoutId id="2147484540" r:id="rId3"/>
    <p:sldLayoutId id="2147484541" r:id="rId4"/>
    <p:sldLayoutId id="2147484542" r:id="rId5"/>
    <p:sldLayoutId id="2147484543" r:id="rId6"/>
    <p:sldLayoutId id="2147484544" r:id="rId7"/>
    <p:sldLayoutId id="2147484545" r:id="rId8"/>
    <p:sldLayoutId id="2147484546" r:id="rId9"/>
    <p:sldLayoutId id="2147484547" r:id="rId10"/>
    <p:sldLayoutId id="214748454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3310D9-7E79-4822-B441-C5F9B3E0E9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pt-BR" dirty="0">
                <a:solidFill>
                  <a:srgbClr val="002060"/>
                </a:solidFill>
              </a:rPr>
            </a:br>
            <a:r>
              <a:rPr lang="pt-BR" dirty="0">
                <a:solidFill>
                  <a:srgbClr val="002060"/>
                </a:solidFill>
              </a:rPr>
              <a:t>Atrasos em Voos Aéreos</a:t>
            </a:r>
            <a:br>
              <a:rPr lang="pt-BR" dirty="0">
                <a:solidFill>
                  <a:srgbClr val="002060"/>
                </a:solidFill>
              </a:rPr>
            </a:br>
            <a:br>
              <a:rPr lang="pt-BR" dirty="0">
                <a:solidFill>
                  <a:srgbClr val="002060"/>
                </a:solidFill>
              </a:rPr>
            </a:br>
            <a:r>
              <a:rPr lang="pt-BR" sz="3600" dirty="0">
                <a:solidFill>
                  <a:srgbClr val="002060"/>
                </a:solidFill>
              </a:rPr>
              <a:t>Análise Exploratória de Dados</a:t>
            </a:r>
            <a:br>
              <a:rPr lang="pt-BR" sz="3600" dirty="0">
                <a:solidFill>
                  <a:srgbClr val="002060"/>
                </a:solidFill>
              </a:rPr>
            </a:br>
            <a:br>
              <a:rPr lang="pt-BR" sz="3600" dirty="0">
                <a:solidFill>
                  <a:srgbClr val="002060"/>
                </a:solidFill>
              </a:rPr>
            </a:br>
            <a:endParaRPr lang="pt-BR" sz="36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475CAF-593E-47C5-A088-C415778B5E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15" y="4670245"/>
            <a:ext cx="7476094" cy="1095288"/>
          </a:xfrm>
        </p:spPr>
        <p:txBody>
          <a:bodyPr>
            <a:normAutofit fontScale="92500" lnSpcReduction="10000"/>
          </a:bodyPr>
          <a:lstStyle/>
          <a:p>
            <a:r>
              <a:rPr lang="pt-BR" dirty="0">
                <a:solidFill>
                  <a:srgbClr val="002060"/>
                </a:solidFill>
              </a:rPr>
              <a:t>MBA - Data Science &amp; Advanced </a:t>
            </a:r>
            <a:r>
              <a:rPr lang="pt-BR" dirty="0" err="1">
                <a:solidFill>
                  <a:srgbClr val="002060"/>
                </a:solidFill>
              </a:rPr>
              <a:t>Analytics</a:t>
            </a:r>
            <a:r>
              <a:rPr lang="pt-BR" dirty="0">
                <a:solidFill>
                  <a:srgbClr val="002060"/>
                </a:solidFill>
              </a:rPr>
              <a:t> </a:t>
            </a:r>
          </a:p>
          <a:p>
            <a:r>
              <a:rPr lang="pt-BR" sz="1900" dirty="0">
                <a:solidFill>
                  <a:srgbClr val="002060"/>
                </a:solidFill>
              </a:rPr>
              <a:t>Python </a:t>
            </a:r>
            <a:r>
              <a:rPr lang="pt-BR" sz="1900" dirty="0" err="1">
                <a:solidFill>
                  <a:srgbClr val="002060"/>
                </a:solidFill>
              </a:rPr>
              <a:t>Programming</a:t>
            </a:r>
            <a:r>
              <a:rPr lang="pt-BR" sz="1900" dirty="0">
                <a:solidFill>
                  <a:srgbClr val="002060"/>
                </a:solidFill>
              </a:rPr>
              <a:t> for Data Science</a:t>
            </a:r>
          </a:p>
          <a:p>
            <a:r>
              <a:rPr lang="pt-BR" sz="1700" dirty="0">
                <a:solidFill>
                  <a:srgbClr val="002060"/>
                </a:solidFill>
              </a:rPr>
              <a:t>Lilian Reis</a:t>
            </a:r>
          </a:p>
        </p:txBody>
      </p:sp>
    </p:spTree>
    <p:extLst>
      <p:ext uri="{BB962C8B-B14F-4D97-AF65-F5344CB8AC3E}">
        <p14:creationId xmlns:p14="http://schemas.microsoft.com/office/powerpoint/2010/main" val="2846848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57493D-7E80-4AC0-88F8-5EE85E4AF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1800" b="1" spc="15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1. Qual(s) a(s) companhia(s) que mais registram atrasos? </a:t>
            </a:r>
            <a:br>
              <a:rPr lang="pt-BR" sz="1800" b="1" spc="15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pt-BR" sz="1800" b="1" spc="15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Analise qualitativamente e quantitativamente.</a:t>
            </a:r>
            <a:br>
              <a:rPr lang="pt-BR" sz="1800" spc="15" dirty="0">
                <a:solidFill>
                  <a:srgbClr val="3C404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br>
              <a:rPr lang="pt-BR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4" name="Espaço Reservado para Conteúdo 33">
            <a:extLst>
              <a:ext uri="{FF2B5EF4-FFF2-40B4-BE49-F238E27FC236}">
                <a16:creationId xmlns:a16="http://schemas.microsoft.com/office/drawing/2014/main" id="{D2AD7BA7-CD13-4F1F-957E-4BF2BC67C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0855" y="904774"/>
            <a:ext cx="7353613" cy="507997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sz="1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Metodologia e Tratamento de Dados</a:t>
            </a:r>
          </a:p>
          <a:p>
            <a:r>
              <a:rPr lang="pt-BR" sz="1600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</a:t>
            </a:r>
            <a:r>
              <a:rPr lang="pt-BR" sz="1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pt-BR" sz="16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nycflights.csv</a:t>
            </a:r>
          </a:p>
          <a:p>
            <a:r>
              <a:rPr lang="pt-BR" sz="1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Tratamento de Valores Nulos:</a:t>
            </a:r>
            <a:r>
              <a:rPr lang="pt-BR" sz="16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Registros com </a:t>
            </a:r>
            <a:r>
              <a:rPr lang="pt-BR" sz="16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dep_time</a:t>
            </a:r>
            <a:r>
              <a:rPr lang="pt-BR" sz="16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(horário de partida) nulo representam voos que não ocorreram ou estão com dados incompletos para este e outros campos importantes para a análise. Para evitar distorções nas métricas  estes registros foram segregados.</a:t>
            </a:r>
          </a:p>
          <a:p>
            <a:r>
              <a:rPr lang="pt-BR" sz="1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Categorização de Voos (Coluna Status): </a:t>
            </a:r>
            <a:r>
              <a:rPr lang="pt-BR" sz="16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 o melhor entendimento dos dados e   auxiliar nos filtros para a criação das métricas e gráficos, foi criada uma regra de categorização abrangente:</a:t>
            </a:r>
          </a:p>
          <a:p>
            <a:pPr lvl="1"/>
            <a:r>
              <a:rPr lang="pt-BR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CANCEL (Cancelado): Voos sem registro de partida (</a:t>
            </a:r>
            <a:r>
              <a:rPr lang="pt-BR" sz="14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dep_time</a:t>
            </a:r>
            <a:r>
              <a:rPr lang="pt-BR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nulo). </a:t>
            </a:r>
          </a:p>
          <a:p>
            <a:pPr lvl="1"/>
            <a:r>
              <a:rPr lang="pt-BR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DELAY (Atrasado): Voos com atraso na partida (</a:t>
            </a:r>
            <a:r>
              <a:rPr lang="pt-BR" sz="14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dep_delay</a:t>
            </a:r>
            <a:r>
              <a:rPr lang="pt-BR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&gt; 0) ou atraso na chegada (</a:t>
            </a:r>
            <a:r>
              <a:rPr lang="pt-BR" sz="14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arr_delay</a:t>
            </a:r>
            <a:r>
              <a:rPr lang="pt-BR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&gt; 0). </a:t>
            </a:r>
          </a:p>
          <a:p>
            <a:pPr lvl="1"/>
            <a:r>
              <a:rPr lang="pt-BR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OK (Pontual): Voos que partiram e chegaram no horário ou adiantados.</a:t>
            </a:r>
          </a:p>
          <a:p>
            <a:pPr marL="0" indent="0">
              <a:buNone/>
            </a:pPr>
            <a:r>
              <a:rPr lang="pt-BR" sz="1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Definição de Métricas</a:t>
            </a:r>
            <a:endParaRPr lang="pt-BR" sz="16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1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Universo de Análise: </a:t>
            </a:r>
            <a:r>
              <a:rPr lang="pt-BR" sz="16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 o cálculo da Taxa de Atraso, foram considerados apenas os voos operados (excluindo cancelamentos do denominador) para medir a real eficiência operacional.</a:t>
            </a:r>
          </a:p>
          <a:p>
            <a:r>
              <a:rPr lang="pt-BR" sz="1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Tabela Resumo</a:t>
            </a:r>
            <a:r>
              <a:rPr lang="pt-BR" sz="16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No notebook foi criada uma tabela com as principais métricas dos voos por companhia e status.</a:t>
            </a:r>
          </a:p>
          <a:p>
            <a:r>
              <a:rPr lang="pt-BR" sz="16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Métricas</a:t>
            </a:r>
            <a:r>
              <a:rPr lang="pt-BR" sz="16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Taxa de Atraso: [</a:t>
            </a:r>
            <a:r>
              <a:rPr lang="pt-BR" sz="16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qtd_delays</a:t>
            </a:r>
            <a:r>
              <a:rPr lang="pt-BR" sz="16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 </a:t>
            </a:r>
            <a:r>
              <a:rPr lang="pt-BR" sz="16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qtd_operados</a:t>
            </a:r>
            <a:r>
              <a:rPr lang="pt-BR" sz="16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× 100 ], Taxa de Cancelamento: [</a:t>
            </a:r>
            <a:r>
              <a:rPr lang="pt-BR" sz="16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qtd_cancelados</a:t>
            </a:r>
            <a:r>
              <a:rPr lang="pt-BR" sz="16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 </a:t>
            </a:r>
            <a:r>
              <a:rPr lang="pt-BR" sz="16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qtd_programados</a:t>
            </a:r>
            <a:r>
              <a:rPr lang="pt-BR" sz="16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× 100], Médias de Atraso: calculadas apenas sobre voos operados.</a:t>
            </a:r>
          </a:p>
        </p:txBody>
      </p:sp>
    </p:spTree>
    <p:extLst>
      <p:ext uri="{BB962C8B-B14F-4D97-AF65-F5344CB8AC3E}">
        <p14:creationId xmlns:p14="http://schemas.microsoft.com/office/powerpoint/2010/main" val="3977740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80B3819-1F93-4829-9327-98216FDB1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65" y="825356"/>
            <a:ext cx="2947482" cy="5285483"/>
          </a:xfrm>
        </p:spPr>
        <p:txBody>
          <a:bodyPr>
            <a:normAutofit fontScale="90000"/>
          </a:bodyPr>
          <a:lstStyle/>
          <a:p>
            <a:r>
              <a:rPr lang="pt-BR" sz="1300" i="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período analisado, ano de 2013, foram programados </a:t>
            </a:r>
            <a:r>
              <a:rPr lang="pt-BR" sz="1300" b="1" i="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336.776</a:t>
            </a:r>
            <a:r>
              <a:rPr lang="pt-BR" sz="1300" i="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voos no total, dos quais </a:t>
            </a:r>
            <a:r>
              <a:rPr lang="pt-BR" sz="1300" b="1" i="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328.521</a:t>
            </a:r>
            <a:r>
              <a:rPr lang="pt-BR" sz="1300" i="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foram operados (</a:t>
            </a:r>
            <a:r>
              <a:rPr lang="pt-BR" sz="1300" b="1" i="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97,55% )</a:t>
            </a:r>
            <a:r>
              <a:rPr lang="pt-BR" sz="1300" i="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pt-BR" sz="1300" i="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300" i="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 cancelamentos atingiram </a:t>
            </a:r>
            <a:r>
              <a:rPr lang="pt-BR" sz="1300" b="1" i="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8.255</a:t>
            </a:r>
            <a:r>
              <a:rPr lang="pt-BR" sz="1300" i="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voos, sendo </a:t>
            </a:r>
            <a:r>
              <a:rPr lang="pt-BR" sz="1300" b="1" i="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2,45%</a:t>
            </a:r>
            <a:r>
              <a:rPr lang="pt-BR" sz="1300" i="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do total programado.</a:t>
            </a:r>
            <a:br>
              <a:rPr lang="pt-BR" sz="1300" i="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3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companhias  que se destacam com as maiores taxas de cancelamento são: </a:t>
            </a:r>
            <a:br>
              <a:rPr lang="pt-BR" sz="13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3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OO</a:t>
            </a:r>
            <a:r>
              <a:rPr lang="pt-BR" sz="13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 9,4% (amostra pequena: apenas 32 voos programados)  e </a:t>
            </a:r>
            <a:r>
              <a:rPr lang="pt-BR" sz="13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YV (Mesa Airlines)</a:t>
            </a:r>
            <a:r>
              <a:rPr lang="pt-BR" sz="13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 </a:t>
            </a:r>
            <a:r>
              <a:rPr lang="pt-BR" sz="13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9,3%</a:t>
            </a:r>
            <a:r>
              <a:rPr lang="pt-BR" sz="13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pt-BR" sz="13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300" i="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Atrasos ocorreram em </a:t>
            </a:r>
            <a:r>
              <a:rPr lang="pt-BR" sz="1300" b="1" i="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154.933</a:t>
            </a:r>
            <a:r>
              <a:rPr lang="pt-BR" sz="1300" i="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voos, representando </a:t>
            </a:r>
            <a:r>
              <a:rPr lang="pt-BR" sz="1300" b="1" i="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47,17% </a:t>
            </a:r>
            <a:r>
              <a:rPr lang="pt-BR" sz="13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300" i="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total operado.</a:t>
            </a:r>
            <a:br>
              <a:rPr lang="pt-BR" sz="1300" b="0" i="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3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companhias que registraram maior percentual de atrasos são:</a:t>
            </a:r>
            <a:br>
              <a:rPr lang="pt-BR" sz="13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3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 </a:t>
            </a:r>
            <a:r>
              <a:rPr lang="pt-BR" sz="13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F9 (</a:t>
            </a:r>
            <a:r>
              <a:rPr lang="pt-BR" sz="1300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Frontier</a:t>
            </a:r>
            <a:r>
              <a:rPr lang="pt-BR" sz="13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Airlines)  69,94%.</a:t>
            </a:r>
            <a:br>
              <a:rPr lang="pt-BR" sz="13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3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 </a:t>
            </a:r>
            <a:r>
              <a:rPr lang="pt-BR" sz="13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 (</a:t>
            </a:r>
            <a:r>
              <a:rPr lang="pt-BR" sz="1300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AirTran</a:t>
            </a:r>
            <a:r>
              <a:rPr lang="pt-BR" sz="13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Airways) </a:t>
            </a:r>
            <a:r>
              <a:rPr lang="pt-BR" sz="13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3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67,87%.</a:t>
            </a:r>
            <a:br>
              <a:rPr lang="pt-BR" sz="13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3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pt-BR" sz="13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WN</a:t>
            </a:r>
            <a:r>
              <a:rPr lang="pt-BR" sz="13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pt-BR" sz="1300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Southwest</a:t>
            </a:r>
            <a:r>
              <a:rPr lang="pt-BR" sz="13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Airlines)  62,64%.</a:t>
            </a:r>
            <a:br>
              <a:rPr lang="pt-BR" sz="13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3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pt-BR" sz="13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UA (United Airlines)  56,7% .</a:t>
            </a:r>
            <a:br>
              <a:rPr lang="pt-BR" sz="13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3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F9, FL e WN </a:t>
            </a:r>
            <a:r>
              <a:rPr lang="pt-BR" sz="13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claramente se destacam com porcentagem acima de 60%., porém a quantidade de voos é menor em relação à outras companhias.</a:t>
            </a:r>
            <a:br>
              <a:rPr lang="pt-BR" sz="13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3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UA (United Airlines) </a:t>
            </a:r>
            <a:r>
              <a:rPr lang="pt-BR" sz="13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também merece destaque, com </a:t>
            </a:r>
            <a:r>
              <a:rPr lang="pt-BR" sz="13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56,7% </a:t>
            </a:r>
            <a:r>
              <a:rPr lang="pt-BR" sz="13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 atrasos para um alto volume de  voos, </a:t>
            </a:r>
            <a:r>
              <a:rPr lang="pt-BR" sz="13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58.665</a:t>
            </a:r>
            <a:r>
              <a:rPr lang="pt-BR" sz="13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pt-BR" sz="13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3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Padrão observado: </a:t>
            </a:r>
            <a:r>
              <a:rPr lang="pt-BR" sz="13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Companhias com menor volume de voos tendem a ter percentuais maiores de atrasos e cancelamentos. </a:t>
            </a:r>
            <a:br>
              <a:rPr lang="pt-BR" sz="13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3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Indicando que empresas menores, com menos infraestrutura operacional, podem ter mais atrasos e cancelamentos. </a:t>
            </a:r>
            <a:br>
              <a:rPr lang="pt-BR" sz="13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3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próximo gráfico será realizada a análise mais detalhada apenas para os voos com atrasos.</a:t>
            </a:r>
            <a:br>
              <a:rPr lang="pt-BR" sz="1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pt-BR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28743F02-CC65-49B9-BADE-B01CC505FF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2021" y="738016"/>
            <a:ext cx="9049979" cy="5372823"/>
          </a:xfrm>
        </p:spPr>
      </p:pic>
    </p:spTree>
    <p:extLst>
      <p:ext uri="{BB962C8B-B14F-4D97-AF65-F5344CB8AC3E}">
        <p14:creationId xmlns:p14="http://schemas.microsoft.com/office/powerpoint/2010/main" val="2467559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D8A4D5E1-8528-49EB-8EA0-D5BA429D9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666" y="761528"/>
            <a:ext cx="2947482" cy="5334944"/>
          </a:xfrm>
        </p:spPr>
        <p:txBody>
          <a:bodyPr>
            <a:noAutofit/>
          </a:bodyPr>
          <a:lstStyle/>
          <a:p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pt-BR" sz="1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F9 e FL </a:t>
            </a:r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são as companhias com maiores métricas de atrasos.: alta frequência de atrasos (</a:t>
            </a:r>
            <a:r>
              <a:rPr lang="pt-BR" sz="1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69,9% </a:t>
            </a:r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 </a:t>
            </a:r>
            <a:r>
              <a:rPr lang="pt-BR" sz="1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67,9%)  </a:t>
            </a:r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 alta severidade (</a:t>
            </a:r>
            <a:r>
              <a:rPr lang="pt-BR" sz="1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21,9 </a:t>
            </a:r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 e </a:t>
            </a:r>
            <a:r>
              <a:rPr lang="pt-BR" sz="1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20,1 </a:t>
            </a:r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 de atraso médio).</a:t>
            </a:r>
            <a:b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pt-BR" sz="1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UA </a:t>
            </a:r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 alta frequência (</a:t>
            </a:r>
            <a:r>
              <a:rPr lang="pt-BR" sz="1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56,7%), </a:t>
            </a:r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 baixa severidade (</a:t>
            </a:r>
            <a:r>
              <a:rPr lang="pt-BR" sz="1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3,6 min</a:t>
            </a:r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 Atrasa muitos voos, mas por pouco tempo.</a:t>
            </a:r>
            <a:b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pt-BR" sz="1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WN</a:t>
            </a:r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tem alta frequência (</a:t>
            </a:r>
            <a:r>
              <a:rPr lang="pt-BR" sz="1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62,6%) </a:t>
            </a:r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 severidade média (</a:t>
            </a:r>
            <a:r>
              <a:rPr lang="pt-BR" sz="1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9,6 min</a:t>
            </a:r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  <a:b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pt-BR" sz="1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e HA </a:t>
            </a:r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são companhias com menores métricas de atrasos: baixa frequência de atrasos, chegam até adiantadas (médias negativas).</a:t>
            </a:r>
            <a:b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Padrões observados nos dados:</a:t>
            </a:r>
            <a:b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Empresas com menor volume de voos (</a:t>
            </a:r>
            <a:r>
              <a:rPr lang="pt-BR" sz="1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F9, FL</a:t>
            </a:r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tendem a ter: maiores percentuais de atrasos, atrasos mais longos (maior severidade) e menor resiliência operacional.</a:t>
            </a:r>
            <a:b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Empresas com grande volume (</a:t>
            </a:r>
            <a:r>
              <a:rPr lang="pt-BR" sz="1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UA, B6, EV</a:t>
            </a:r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mostram:</a:t>
            </a:r>
            <a:b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Percentuais moderados e altos de atrasos,  atrasos mais curtos (</a:t>
            </a:r>
            <a:r>
              <a:rPr lang="pt-BR" sz="1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UA: </a:t>
            </a:r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3,6 min em média). Recuperam parte do tempo, mas afetam muitos passageiros.</a:t>
            </a:r>
            <a:b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Relação Volume × Performance:</a:t>
            </a:r>
            <a:b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F9 e FL </a:t>
            </a:r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(volumes pequenos): pior performance, mas o volume não é o único fator; modelo operacional também importa.</a:t>
            </a:r>
            <a:b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 e AS </a:t>
            </a:r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(volumes pequenos/médios): melhor performance.</a:t>
            </a:r>
            <a:b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Como os aeroportos, rotas e duração do voo podem influenciar </a:t>
            </a:r>
            <a:r>
              <a:rPr lang="pt-BR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 atrasos, essa será a próxima análise. </a:t>
            </a:r>
          </a:p>
        </p:txBody>
      </p:sp>
      <p:pic>
        <p:nvPicPr>
          <p:cNvPr id="6" name="Espaço Reservado para Imagem 5">
            <a:extLst>
              <a:ext uri="{FF2B5EF4-FFF2-40B4-BE49-F238E27FC236}">
                <a16:creationId xmlns:a16="http://schemas.microsoft.com/office/drawing/2014/main" id="{61D1D955-684B-40EE-93CD-B839FB6542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/>
        </p:blipFill>
        <p:spPr>
          <a:xfrm>
            <a:off x="3294018" y="534257"/>
            <a:ext cx="8897981" cy="5964590"/>
          </a:xfrm>
        </p:spPr>
      </p:pic>
    </p:spTree>
    <p:extLst>
      <p:ext uri="{BB962C8B-B14F-4D97-AF65-F5344CB8AC3E}">
        <p14:creationId xmlns:p14="http://schemas.microsoft.com/office/powerpoint/2010/main" val="1472179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D55C9E-1D66-4908-9918-EF92CDE90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1800" b="1" spc="15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2. A rota ou aeronave podem influenciar nos atrasos?</a:t>
            </a:r>
            <a:br>
              <a:rPr lang="pt-BR" sz="1800" spc="15" dirty="0">
                <a:solidFill>
                  <a:srgbClr val="3C404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7B7BC4-9986-44A5-8638-C8BD0DBCC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sz="16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Sim, rotas e aeronaves podem influenciar nos atrasos, pois fatores como distância, congestionamento, condições dos aeroportos e características operacionais das aeronaves podem alterar o desempenho dos voos.</a:t>
            </a:r>
          </a:p>
          <a:p>
            <a:pPr marL="0" indent="0">
              <a:buNone/>
            </a:pPr>
            <a:r>
              <a:rPr lang="pt-BR" sz="1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Metodologia: </a:t>
            </a:r>
            <a:r>
              <a:rPr lang="pt-BR" sz="16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análise considera apenas voos operados, e utiliza uma tabela resumo com os principais campos e métricas relevantes para avaliar o impacto de rotas e aeronaves nos atrasos.</a:t>
            </a:r>
          </a:p>
          <a:p>
            <a:r>
              <a:rPr lang="pt-BR" sz="1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Tabela Resumo: </a:t>
            </a:r>
          </a:p>
          <a:p>
            <a:pPr lvl="1"/>
            <a:r>
              <a:rPr lang="pt-BR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Companhia: </a:t>
            </a:r>
            <a:r>
              <a:rPr lang="pt-BR" sz="14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carrier</a:t>
            </a:r>
            <a:r>
              <a:rPr lang="pt-BR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/>
            <a:r>
              <a:rPr lang="pt-BR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Rota: combinação de </a:t>
            </a:r>
            <a:r>
              <a:rPr lang="pt-BR" sz="14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origin</a:t>
            </a:r>
            <a:r>
              <a:rPr lang="pt-BR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e </a:t>
            </a:r>
            <a:r>
              <a:rPr lang="pt-BR" sz="14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dest</a:t>
            </a:r>
            <a:endParaRPr lang="pt-BR" sz="14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pt-BR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Distância </a:t>
            </a:r>
          </a:p>
          <a:p>
            <a:pPr lvl="1"/>
            <a:r>
              <a:rPr lang="pt-BR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Aeronave: identificada por </a:t>
            </a:r>
            <a:r>
              <a:rPr lang="pt-BR" sz="14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tailnum</a:t>
            </a:r>
            <a:endParaRPr lang="pt-BR" sz="14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pt-BR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quantidade de voos (</a:t>
            </a:r>
            <a:r>
              <a:rPr lang="pt-BR" sz="14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qtd_voos</a:t>
            </a:r>
            <a:r>
              <a:rPr lang="pt-BR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1"/>
            <a:r>
              <a:rPr lang="pt-BR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tempo médio de voo</a:t>
            </a:r>
          </a:p>
          <a:p>
            <a:pPr lvl="1"/>
            <a:r>
              <a:rPr lang="pt-BR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atraso médio na chegada (</a:t>
            </a:r>
            <a:r>
              <a:rPr lang="pt-BR" sz="14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arr_delay</a:t>
            </a:r>
            <a:r>
              <a:rPr lang="pt-BR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1"/>
            <a:r>
              <a:rPr lang="pt-BR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atraso médio na partida (</a:t>
            </a:r>
            <a:r>
              <a:rPr lang="pt-BR" sz="14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dep_delay</a:t>
            </a:r>
            <a:r>
              <a:rPr lang="pt-BR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1"/>
            <a:r>
              <a:rPr lang="pt-BR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taxa de atraso (%)</a:t>
            </a:r>
            <a:endParaRPr lang="pt-BR" sz="16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1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Definição de Métricas</a:t>
            </a:r>
          </a:p>
          <a:p>
            <a:pPr lvl="1"/>
            <a:r>
              <a:rPr lang="pt-BR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Atraso médio (</a:t>
            </a:r>
            <a:r>
              <a:rPr lang="pt-BR" sz="14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arr_delay</a:t>
            </a:r>
            <a:r>
              <a:rPr lang="pt-BR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– principal indicador</a:t>
            </a:r>
          </a:p>
          <a:p>
            <a:pPr lvl="1"/>
            <a:r>
              <a:rPr lang="pt-BR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Taxa de atraso (%)</a:t>
            </a:r>
          </a:p>
          <a:p>
            <a:pPr lvl="1"/>
            <a:r>
              <a:rPr lang="pt-BR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Volume de voos (</a:t>
            </a:r>
            <a:r>
              <a:rPr lang="pt-BR" sz="14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qtd_voos</a:t>
            </a:r>
            <a:r>
              <a:rPr lang="pt-BR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1"/>
            <a:r>
              <a:rPr lang="pt-BR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Distância da rota</a:t>
            </a:r>
          </a:p>
          <a:p>
            <a:pPr marL="0" indent="0">
              <a:buNone/>
            </a:pPr>
            <a:r>
              <a:rPr lang="pt-BR" sz="16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Essas métricas permitem avaliar tanto severidade quanto frequência dos atrasos.</a:t>
            </a:r>
          </a:p>
        </p:txBody>
      </p:sp>
    </p:spTree>
    <p:extLst>
      <p:ext uri="{BB962C8B-B14F-4D97-AF65-F5344CB8AC3E}">
        <p14:creationId xmlns:p14="http://schemas.microsoft.com/office/powerpoint/2010/main" val="604849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0B64C1-7DF9-44D4-A4C5-D11F7EF41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661" y="782344"/>
            <a:ext cx="3036678" cy="5243071"/>
          </a:xfrm>
        </p:spPr>
        <p:txBody>
          <a:bodyPr>
            <a:normAutofit fontScale="90000"/>
          </a:bodyPr>
          <a:lstStyle/>
          <a:p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 a análise das rotas foi identificado muitas rotas com poucos voos, então foi adicionado o filtro de pelo menos 50 voos (~ 1 voo por semana).</a:t>
            </a:r>
            <a:b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 (</a:t>
            </a:r>
            <a:r>
              <a:rPr lang="pt-BR" sz="1200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ExpressJet</a:t>
            </a:r>
            <a:r>
              <a:rPr lang="pt-BR" sz="1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domina as rotas com maiores atrasos: r</a:t>
            </a:r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otas como EWR → CAE (44,6 min), EWR → TYS (41,2 min) e EWR → TUL (33,7 min) lideram o ranking de atraso médio. Apesar de algumas rotas terem volume moderado de voos (ex.:  94 voos para EWR → CAE), a severidade do atraso é alta, indicando possíveis problemas operacionais ou de infraestrutura.</a:t>
            </a:r>
            <a:b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Companhias menores têm pior desempenho:</a:t>
            </a:r>
            <a:b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F9 (69,94% de atrasos, 682 voos) e FL (67,87%, 3.187 voos) mostram alta frequência + alta severidade (21,9 min e 20,1 min), indicando baixa resiliência operacional.</a:t>
            </a:r>
            <a:b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Rotas críticas concentram-se em EWR e LGA:</a:t>
            </a:r>
            <a:b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EWR → CAE (EV) tem 84% de atrasos e 44,6 min de atraso médio, mesmo com apenas 94 voos.</a:t>
            </a:r>
            <a:b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LGA → DEN (F9) tem 21,9 min de atraso em 681 voos.</a:t>
            </a:r>
            <a:b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Distância não parece ser um fator determinante:</a:t>
            </a:r>
            <a:b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Rotas curtas (CAE: 602 km) e longas (TUL: 1.215 km) aparecem entre as mais atrasadas.</a:t>
            </a:r>
            <a:b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problema parece ser operacional/local e não geográfico.</a:t>
            </a:r>
            <a:b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Volume parece ter relação com os atrasos:</a:t>
            </a:r>
            <a:b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EWR → RIC (EV) tem 1.615 voos e 25,8 min de atraso médio, mostrando que rotas movimentadas podem ter desempenho ruim.</a:t>
            </a:r>
            <a:b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F9 e FL (</a:t>
            </a:r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menores) têm alta taxa e severidade de atrasos. </a:t>
            </a:r>
            <a:r>
              <a:rPr lang="pt-BR" sz="1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</a:t>
            </a:r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tem rotas extremamente problemáticas saindo de EWR. </a:t>
            </a:r>
            <a:r>
              <a:rPr lang="pt-BR" sz="1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UA</a:t>
            </a:r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atrasa muito, mas pouco tempo. A distância não explica os atrasos,  a gestão operacional e as condições dos aeroportos de origem (</a:t>
            </a:r>
            <a:r>
              <a:rPr lang="pt-BR" sz="1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EWR/LGA) </a:t>
            </a:r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são cruciais. </a:t>
            </a:r>
            <a:endParaRPr lang="pt-BR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F18C88C9-62D8-42BC-8ED5-EF385AF27E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2130" y="444617"/>
            <a:ext cx="8829870" cy="6157519"/>
          </a:xfrm>
        </p:spPr>
      </p:pic>
    </p:spTree>
    <p:extLst>
      <p:ext uri="{BB962C8B-B14F-4D97-AF65-F5344CB8AC3E}">
        <p14:creationId xmlns:p14="http://schemas.microsoft.com/office/powerpoint/2010/main" val="3248964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458D26-F579-46F3-99B1-C95D85790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68" y="830687"/>
            <a:ext cx="3058733" cy="5228823"/>
          </a:xfrm>
        </p:spPr>
        <p:txBody>
          <a:bodyPr>
            <a:normAutofit/>
          </a:bodyPr>
          <a:lstStyle/>
          <a:p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 a análise das aeronaves foi mantido o filtro de pelo menos 50 voos (~ 1 voo por semana).</a:t>
            </a:r>
            <a:b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2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 (</a:t>
            </a:r>
            <a:r>
              <a:rPr lang="pt-BR" sz="1200" b="1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ExpressJet</a:t>
            </a:r>
            <a:r>
              <a:rPr lang="pt-BR" sz="12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domina o ranking de aeronaves problemáticas:</a:t>
            </a:r>
            <a:br>
              <a:rPr lang="pt-BR" sz="12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2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 20 piores aeronaves, 15 são da EV.</a:t>
            </a:r>
            <a:br>
              <a:rPr lang="pt-BR" sz="12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2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Atrasos severos: entre 23 a 30 minutos em média.</a:t>
            </a:r>
            <a:br>
              <a:rPr lang="pt-BR" sz="12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2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Alta recorrência: taxa de atraso entre 46% e 61% (ou seja, mais da metade dos voos atrasavam).</a:t>
            </a:r>
            <a:br>
              <a:rPr lang="pt-BR" sz="12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pt-BR" sz="12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2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Aeronaves mais críticas que demandam atenção:</a:t>
            </a:r>
            <a:br>
              <a:rPr lang="pt-BR" sz="12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2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N11119 (EV): 30,3 min de atraso médio | 53,3% de atrasos | 137 voos.</a:t>
            </a:r>
            <a:br>
              <a:rPr lang="pt-BR" sz="12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2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N16919 (EV) &amp; N14998 (EV): Alto atraso (≈28-30 min) com mais de 200 voos cada, impactando muitos passageiros.</a:t>
            </a:r>
            <a:br>
              <a:rPr lang="pt-BR" sz="12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2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N989AT (DL): Maior taxa de atraso (61,3%) entre as top 20, indicando confiabilidade muito baixa.</a:t>
            </a:r>
            <a:br>
              <a:rPr lang="pt-BR" sz="12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pt-BR" sz="12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2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Outras companhias com aeronaves problemáticas (isoladas)</a:t>
            </a:r>
            <a:br>
              <a:rPr lang="pt-BR" sz="12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2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DL (Delta): 1 aeronave.</a:t>
            </a:r>
            <a:br>
              <a:rPr lang="pt-BR" sz="12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2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9E (</a:t>
            </a:r>
            <a:r>
              <a:rPr lang="pt-BR" sz="12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Endeavor</a:t>
            </a:r>
            <a:r>
              <a:rPr lang="pt-BR" sz="12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Air): 1.</a:t>
            </a:r>
            <a:br>
              <a:rPr lang="pt-BR" sz="12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2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UA (United): 1 aeronave.</a:t>
            </a:r>
            <a:br>
              <a:rPr lang="pt-BR" sz="12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pt-BR" sz="12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2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análise das aeronaves revela que o problema de atrasos é estrutural e concentrado. A esmagadora maioria das aeronaves com pior desempenho pertence à </a:t>
            </a:r>
            <a:r>
              <a:rPr lang="pt-BR" sz="12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ExpressJet</a:t>
            </a:r>
            <a:r>
              <a:rPr lang="pt-BR" sz="12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(EV), indicando falhas crônicas na manutenção, gestão da frota ou operações da companhia</a:t>
            </a:r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236B8894-537E-4053-9531-44D6B0A56F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12544" y="664234"/>
            <a:ext cx="8879456" cy="5805577"/>
          </a:xfrm>
        </p:spPr>
      </p:pic>
    </p:spTree>
    <p:extLst>
      <p:ext uri="{BB962C8B-B14F-4D97-AF65-F5344CB8AC3E}">
        <p14:creationId xmlns:p14="http://schemas.microsoft.com/office/powerpoint/2010/main" val="1379544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3DDA01-0942-4B4B-A8FE-DA1C72639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1800" b="1" spc="15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3. Existe algum padrão ou tendência nos atrasos? Se sim, o que pode ser feito para reduzi-los?</a:t>
            </a:r>
            <a:endParaRPr lang="pt-BR" sz="1800" b="1" dirty="0">
              <a:solidFill>
                <a:srgbClr val="002060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767562-8CB5-4836-89A7-EB957AC99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pt-BR" sz="1200" b="1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pt-BR" sz="12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Padrões Identificados: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1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Companhias que mais atrasam: Problema de Frequência vs. Severidade.</a:t>
            </a:r>
            <a:endParaRPr lang="pt-BR" sz="1100" b="1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4582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0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Companhias com </a:t>
            </a:r>
            <a:r>
              <a:rPr lang="pt-BR" sz="10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menor volume</a:t>
            </a:r>
            <a:r>
              <a:rPr lang="pt-BR" sz="10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voos (</a:t>
            </a:r>
            <a:r>
              <a:rPr lang="pt-BR" sz="10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F9, FL</a:t>
            </a:r>
            <a:r>
              <a:rPr lang="pt-BR" sz="10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demonstram a pior performance, com </a:t>
            </a:r>
            <a:r>
              <a:rPr lang="pt-BR" sz="10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alta frequência</a:t>
            </a:r>
            <a:r>
              <a:rPr lang="pt-BR" sz="10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atrasos (acima de </a:t>
            </a:r>
            <a:r>
              <a:rPr lang="pt-BR" sz="10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60%) </a:t>
            </a:r>
            <a:r>
              <a:rPr lang="pt-BR" sz="10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 </a:t>
            </a:r>
            <a:r>
              <a:rPr lang="pt-BR" sz="10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alta severidade</a:t>
            </a:r>
            <a:r>
              <a:rPr lang="pt-BR" sz="10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(atrasos médios longos, </a:t>
            </a:r>
            <a:r>
              <a:rPr lang="pt-BR" sz="10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&gt;20 </a:t>
            </a:r>
            <a:r>
              <a:rPr lang="pt-BR" sz="10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minutos).</a:t>
            </a:r>
          </a:p>
          <a:p>
            <a:pPr marL="84582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0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Companhias com </a:t>
            </a:r>
            <a:r>
              <a:rPr lang="pt-BR" sz="10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alto volume</a:t>
            </a:r>
            <a:r>
              <a:rPr lang="pt-BR" sz="10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(UA) demonstram alta frequência, mas </a:t>
            </a:r>
            <a:r>
              <a:rPr lang="pt-BR" sz="10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baixa severidade</a:t>
            </a:r>
            <a:r>
              <a:rPr lang="pt-BR" sz="10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(média de atraso de </a:t>
            </a:r>
            <a:r>
              <a:rPr lang="pt-BR" sz="10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3,6 </a:t>
            </a:r>
            <a:r>
              <a:rPr lang="pt-BR" sz="10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minutos), indicando que afetam muitos passageiros, mas conseguem recuperar o tempo.</a:t>
            </a:r>
          </a:p>
          <a:p>
            <a:pPr marL="84582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0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Companhias regionais ou de baixo custo (como a </a:t>
            </a:r>
            <a:r>
              <a:rPr lang="pt-BR" sz="1000" b="1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ExpressJet</a:t>
            </a:r>
            <a:r>
              <a:rPr lang="pt-BR" sz="10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que opera voos regionais para grandes companhias) tendem a sofrer mais com a cascata de atrasos, devido à menor disponibilidade de aeronaves reservas e rotas mais curtas e frequentes. </a:t>
            </a:r>
          </a:p>
          <a:p>
            <a:pPr marL="84582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0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 outro lado, companhias como </a:t>
            </a:r>
            <a:r>
              <a:rPr lang="pt-BR" sz="10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(Alaska)</a:t>
            </a:r>
            <a:r>
              <a:rPr lang="pt-BR" sz="10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pt-BR" sz="10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 (</a:t>
            </a:r>
            <a:r>
              <a:rPr lang="pt-BR" sz="1000" b="1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Hawaiian</a:t>
            </a:r>
            <a:r>
              <a:rPr lang="pt-BR" sz="10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pt-BR" sz="10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costumam ter tempos negativos (chegam antes do horário), em parte porque voam rotas longas, onde é possível recuperar tempo no ar.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1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Rotas e Aeronaves: Problema Estrutural e Concentrado.</a:t>
            </a:r>
          </a:p>
          <a:p>
            <a:pPr marL="84582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0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atraso não é explicado por fatores geográficos como </a:t>
            </a:r>
            <a:r>
              <a:rPr lang="pt-BR" sz="10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distância da rota</a:t>
            </a:r>
            <a:r>
              <a:rPr lang="pt-BR" sz="10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A análise mostra que não existe uma correlação forte entre a distância e o atraso. Isso indica que voos longos não atrasam necessariamente mais que voos curtos.</a:t>
            </a:r>
          </a:p>
          <a:p>
            <a:pPr marL="84582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0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 aeroportos de origem </a:t>
            </a:r>
            <a:r>
              <a:rPr lang="pt-BR" sz="10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EWR</a:t>
            </a:r>
            <a:r>
              <a:rPr lang="pt-BR" sz="10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pt-BR" sz="10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LGA</a:t>
            </a:r>
            <a:r>
              <a:rPr lang="pt-BR" sz="10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são focos geográficos dos atrasos críticos</a:t>
            </a:r>
            <a:r>
              <a:rPr lang="pt-BR" sz="105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pt-BR" sz="10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4582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Verifica-se um problema</a:t>
            </a:r>
            <a:r>
              <a:rPr lang="pt-BR" sz="10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0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operacional e concentrado</a:t>
            </a:r>
            <a:r>
              <a:rPr lang="pt-BR" sz="10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dominado pela </a:t>
            </a:r>
            <a:r>
              <a:rPr lang="pt-BR" sz="1000" b="1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ExpressJet</a:t>
            </a:r>
            <a:r>
              <a:rPr lang="pt-BR" sz="10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(EV)</a:t>
            </a:r>
            <a:r>
              <a:rPr lang="pt-BR" sz="10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que é a principal responsável pelas rotas mais atrasadas (ex.: </a:t>
            </a:r>
            <a:r>
              <a:rPr lang="pt-BR" sz="10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EWR → CAE, 44,6 min</a:t>
            </a:r>
            <a:r>
              <a:rPr lang="pt-BR" sz="10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e pela maioria das aeronaves problemáticas (</a:t>
            </a:r>
            <a:r>
              <a:rPr lang="pt-BR" sz="10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</a:t>
            </a:r>
            <a:r>
              <a:rPr lang="pt-BR" sz="10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das </a:t>
            </a:r>
            <a:r>
              <a:rPr lang="pt-BR" sz="10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</a:t>
            </a:r>
            <a:r>
              <a:rPr lang="pt-BR" sz="10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piores).</a:t>
            </a:r>
          </a:p>
          <a:p>
            <a:pPr marL="84582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0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Embora o conjunto de dados forneça o número da aeronave, sem outros dados como: ano de fabricação e  modelo, a influência geral é inconclusiva. No entanto, observou-se que rotas para aeroportos congestionados influenciam mais do que o modelo do avião em si.</a:t>
            </a:r>
            <a:endParaRPr lang="pt-BR" sz="1000" b="1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1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Padrões e Tendências Gerais:</a:t>
            </a:r>
          </a:p>
          <a:p>
            <a:pPr marL="84582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0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Padrão Sazonal:</a:t>
            </a:r>
            <a:r>
              <a:rPr lang="pt-BR" sz="10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Os meses de </a:t>
            </a:r>
            <a:r>
              <a:rPr lang="pt-BR" sz="10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Junho/Julho</a:t>
            </a:r>
            <a:r>
              <a:rPr lang="pt-BR" sz="10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(verão no hemisfério norte, tempestades de verão) e </a:t>
            </a:r>
            <a:r>
              <a:rPr lang="pt-BR" sz="10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Dezembro/Janeiro</a:t>
            </a:r>
            <a:r>
              <a:rPr lang="pt-BR" sz="10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(férias/inverno) costumam em geral apresentar os maiores picos de atrasos em voos. </a:t>
            </a:r>
            <a:r>
              <a:rPr lang="pt-BR" sz="1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Como a análise é para</a:t>
            </a:r>
            <a:r>
              <a:rPr lang="pt-BR" sz="10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voos partindo de Nova York (JFK, LGA, EWR) o atrasos podem a nevascas específicas daquela região, tempestades e ou aumento de demanda  período de férias.</a:t>
            </a:r>
          </a:p>
          <a:p>
            <a:pPr marL="84582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0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Padrão de Horário:</a:t>
            </a:r>
            <a:r>
              <a:rPr lang="pt-BR" sz="10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pt-BR" sz="10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xiste uma tendência geral de atrasos </a:t>
            </a:r>
            <a:r>
              <a:rPr lang="pt-BR" sz="1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ocorrem de forma </a:t>
            </a:r>
            <a:r>
              <a:rPr lang="pt-BR" sz="10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crescente ao longo do dia. Os voos da manhã (das 5h às 9h) tendem a ter as menores médias de atraso, a partir das 10h, os atrasos acumulam-se, atingindo o pico entre </a:t>
            </a:r>
            <a:r>
              <a:rPr lang="pt-BR" sz="10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20h e 21h</a:t>
            </a:r>
            <a:r>
              <a:rPr lang="pt-BR" sz="10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Essa tendência pode estar relacionada com a demanda, problemas operacionais e de gest</a:t>
            </a:r>
            <a:r>
              <a:rPr lang="pt-BR" sz="1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ão.</a:t>
            </a:r>
          </a:p>
          <a:p>
            <a:pPr marL="502920" lvl="1" indent="0">
              <a:buSzPts val="1000"/>
              <a:buNone/>
              <a:tabLst>
                <a:tab pos="457200" algn="l"/>
              </a:tabLst>
            </a:pPr>
            <a:endParaRPr lang="pt-BR" sz="1200" b="1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6357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067B20-F321-4FF2-99EF-AF2EB1A2C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1800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Sugestões de Melhorias</a:t>
            </a:r>
            <a:endParaRPr lang="pt-BR" sz="18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03DFFF0E-EF0D-48A9-924B-E7DA9E7BBE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162970"/>
              </p:ext>
            </p:extLst>
          </p:nvPr>
        </p:nvGraphicFramePr>
        <p:xfrm>
          <a:off x="3835400" y="725804"/>
          <a:ext cx="7325782" cy="53972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90892">
                  <a:extLst>
                    <a:ext uri="{9D8B030D-6E8A-4147-A177-3AD203B41FA5}">
                      <a16:colId xmlns:a16="http://schemas.microsoft.com/office/drawing/2014/main" val="2654462340"/>
                    </a:ext>
                  </a:extLst>
                </a:gridCol>
                <a:gridCol w="2467445">
                  <a:extLst>
                    <a:ext uri="{9D8B030D-6E8A-4147-A177-3AD203B41FA5}">
                      <a16:colId xmlns:a16="http://schemas.microsoft.com/office/drawing/2014/main" val="3556872207"/>
                    </a:ext>
                  </a:extLst>
                </a:gridCol>
                <a:gridCol w="2467445">
                  <a:extLst>
                    <a:ext uri="{9D8B030D-6E8A-4147-A177-3AD203B41FA5}">
                      <a16:colId xmlns:a16="http://schemas.microsoft.com/office/drawing/2014/main" val="1790244142"/>
                    </a:ext>
                  </a:extLst>
                </a:gridCol>
              </a:tblGrid>
              <a:tr h="18479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200" b="1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Foco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200" b="1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Problema Identificado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200" b="1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Sugestão de Ação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54941708"/>
                  </a:ext>
                </a:extLst>
              </a:tr>
              <a:tr h="65325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1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ExpressJet</a:t>
                      </a:r>
                      <a:r>
                        <a:rPr lang="pt-BR" sz="11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(EV)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pt-BR" sz="11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Falhas crônicas na manutenção, frota e operação (dominância nas piores aeronaves e rotas).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1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Implementar auditoria, manutenção e gestão da frota. E conforme necessário, a substituição ou reparo das aeronaves mais críticas (ex.: N11119).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29669888"/>
                  </a:ext>
                </a:extLst>
              </a:tr>
              <a:tr h="65325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1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Infraestrutura Local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pt-BR" sz="11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Concentração de problemas em rotas que partem de EWR e LGA.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1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Investigação detalhada e coordenação com as autoridades aeroportuárias para mitigar gargalos operacionais específicos em EWR e LGA.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65844006"/>
                  </a:ext>
                </a:extLst>
              </a:tr>
              <a:tr h="65325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1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Companhias Menores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pt-BR" sz="11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Alta severidade e baixa resiliência (F9, FL).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1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Implementar um monitoramento de performance focado (SLA) para reduzir o tempo médio de atraso (severidade) dessas companhias.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01504971"/>
                  </a:ext>
                </a:extLst>
              </a:tr>
              <a:tr h="4924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1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Gestão de Atrasos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pt-BR" sz="11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Alto volume de atrasos curtos (UA).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1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Investigar as causas dos pequenos atrasos para reduzir a frequência e minimizar o impacto no volume de passageiros.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09620008"/>
                  </a:ext>
                </a:extLst>
              </a:tr>
              <a:tr h="97489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100" dirty="0">
                          <a:solidFill>
                            <a:srgbClr val="002060"/>
                          </a:solidFill>
                        </a:rPr>
                        <a:t>Sazonalidade </a:t>
                      </a:r>
                      <a:endParaRPr lang="pt-BR" sz="1100" b="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pt-BR" sz="1100" b="0" dirty="0">
                          <a:solidFill>
                            <a:srgbClr val="002060"/>
                          </a:solidFill>
                        </a:rPr>
                        <a:t>Atrasos nos meses com maior volume de voos (férias ) ou devido a  condições meteorológicas adversas.</a:t>
                      </a:r>
                      <a:endParaRPr lang="pt-BR" sz="1100" b="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1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Reforço de Pessoal e Capacidade. </a:t>
                      </a:r>
                      <a:r>
                        <a:rPr lang="pt-BR" sz="1100" dirty="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Aumentar a reserva de aeronaves e tripulações (</a:t>
                      </a:r>
                      <a:r>
                        <a:rPr lang="pt-BR" sz="1100" dirty="0" err="1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stand-by</a:t>
                      </a:r>
                      <a:r>
                        <a:rPr lang="pt-BR" sz="1100" dirty="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 entre </a:t>
                      </a:r>
                      <a:r>
                        <a:rPr lang="pt-BR" sz="11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 e 20%</a:t>
                      </a:r>
                      <a:r>
                        <a:rPr lang="pt-BR" sz="1100" dirty="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nos meses de pico. </a:t>
                      </a:r>
                      <a:r>
                        <a:rPr lang="pt-BR" sz="1100" b="0" dirty="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Implementar </a:t>
                      </a:r>
                      <a:r>
                        <a:rPr lang="pt-BR" sz="11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planos de contingência específicos para inverno</a:t>
                      </a:r>
                      <a:r>
                        <a:rPr lang="pt-BR" sz="1100" b="0" dirty="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(</a:t>
                      </a:r>
                      <a:r>
                        <a:rPr lang="pt-BR" sz="1100" b="0" dirty="0" err="1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</a:t>
                      </a:r>
                      <a:r>
                        <a:rPr lang="pt-BR" sz="1100" b="0" dirty="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: treinamento em degelo, equipamentos).</a:t>
                      </a:r>
                      <a:endParaRPr lang="pt-BR" sz="1100" b="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86421736"/>
                  </a:ext>
                </a:extLst>
              </a:tr>
              <a:tr h="122680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100" b="1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Gestão de Demanda</a:t>
                      </a:r>
                      <a:endParaRPr lang="pt-BR" sz="1100" b="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pt-BR" sz="11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Atrasos </a:t>
                      </a:r>
                      <a:r>
                        <a:rPr lang="pt-BR" sz="1100" dirty="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ocorrem de forma </a:t>
                      </a:r>
                      <a:r>
                        <a:rPr lang="pt-BR" sz="11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crescente ao longo do dia, efeito cascata.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1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Gestão de demanda, reforçar equipes e recursos operacionais, aumentar o tempo de solo (buffer) entre voos nos horários de pico (final da tarde) para absorver pequenos atrasos anteriores e evitar a propagação.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pt-BR" sz="11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67635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6149997"/>
      </p:ext>
    </p:extLst>
  </p:cSld>
  <p:clrMapOvr>
    <a:masterClrMapping/>
  </p:clrMapOvr>
</p:sld>
</file>

<file path=ppt/theme/theme1.xml><?xml version="1.0" encoding="utf-8"?>
<a:theme xmlns:a="http://schemas.openxmlformats.org/drawingml/2006/main" name="Quadro">
  <a:themeElements>
    <a:clrScheme name="Quadro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Quadro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adro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TM03457475[[fn=Quadro]]</Template>
  <TotalTime>2477</TotalTime>
  <Words>2296</Words>
  <Application>Microsoft Office PowerPoint</Application>
  <PresentationFormat>Widescreen</PresentationFormat>
  <Paragraphs>77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Arial</vt:lpstr>
      <vt:lpstr>Calibri</vt:lpstr>
      <vt:lpstr>Corbel</vt:lpstr>
      <vt:lpstr>Symbol</vt:lpstr>
      <vt:lpstr>Wingdings 2</vt:lpstr>
      <vt:lpstr>Quadro</vt:lpstr>
      <vt:lpstr> Atrasos em Voos Aéreos  Análise Exploratória de Dados  </vt:lpstr>
      <vt:lpstr>1. Qual(s) a(s) companhia(s) que mais registram atrasos?  Analise qualitativamente e quantitativamente.  </vt:lpstr>
      <vt:lpstr>No período analisado, ano de 2013, foram programados 336.776 voos no total, dos quais 328.521 foram operados (97,55% ). Os cancelamentos atingiram 8.255 voos, sendo 2,45% do total programado. As companhias  que se destacam com as maiores taxas de cancelamento são:  OO com 9,4% (amostra pequena: apenas 32 voos programados)  e YV (Mesa Airlines) com 9,3%. Atrasos ocorreram em 154.933 voos, representando  47,17%  do total operado. As companhias que registraram maior percentual de atrasos são: -  F9 (Frontier Airlines)  69,94%. -  FL (AirTran Airways)  67,87%. - WN (Southwest Airlines)  62,64%. - UA (United Airlines)  56,7% . F9, FL e WN claramente se destacam com porcentagem acima de 60%., porém a quantidade de voos é menor em relação à outras companhias. UA (United Airlines) também merece destaque, com 56,7% de atrasos para um alto volume de  voos, 58.665. Padrão observado: Companhias com menor volume de voos tendem a ter percentuais maiores de atrasos e cancelamentos.  Indicando que empresas menores, com menos infraestrutura operacional, podem ter mais atrasos e cancelamentos.  No próximo gráfico será realizada a análise mais detalhada apenas para os voos com atrasos. </vt:lpstr>
      <vt:lpstr>- F9 e FL são as companhias com maiores métricas de atrasos.: alta frequência de atrasos (69,9% e 67,9%)  e alta severidade (21,9 min e 20,1 min de atraso médio). - UA tem alta frequência (56,7%), mas baixa severidade (3,6 min). Atrasa muitos voos, mas por pouco tempo. - WN tem alta frequência (62,6%) com severidade média (9,6 min). - AS e HA são companhias com menores métricas de atrasos: baixa frequência de atrasos, chegam até adiantadas (médias negativas). Padrões observados nos dados: Empresas com menor volume de voos (F9, FL) tendem a ter: maiores percentuais de atrasos, atrasos mais longos (maior severidade) e menor resiliência operacional. Empresas com grande volume (UA, B6, EV) mostram: Percentuais moderados e altos de atrasos,  atrasos mais curtos (UA: 3,6 min em média). Recuperam parte do tempo, mas afetam muitos passageiros. Relação Volume × Performance: F9 e FL (volumes pequenos): pior performance, mas o volume não é o único fator; modelo operacional também importa. HA e AS (volumes pequenos/médios): melhor performance. Como os aeroportos, rotas e duração do voo podem influenciar os atrasos, essa será a próxima análise. </vt:lpstr>
      <vt:lpstr>2. A rota ou aeronave podem influenciar nos atrasos? </vt:lpstr>
      <vt:lpstr>Para a análise das rotas foi identificado muitas rotas com poucos voos, então foi adicionado o filtro de pelo menos 50 voos (~ 1 voo por semana). EV (ExpressJet) domina as rotas com maiores atrasos: rotas como EWR → CAE (44,6 min), EWR → TYS (41,2 min) e EWR → TUL (33,7 min) lideram o ranking de atraso médio. Apesar de algumas rotas terem volume moderado de voos (ex.:  94 voos para EWR → CAE), a severidade do atraso é alta, indicando possíveis problemas operacionais ou de infraestrutura. Companhias menores têm pior desempenho: F9 (69,94% de atrasos, 682 voos) e FL (67,87%, 3.187 voos) mostram alta frequência + alta severidade (21,9 min e 20,1 min), indicando baixa resiliência operacional. Rotas críticas concentram-se em EWR e LGA: EWR → CAE (EV) tem 84% de atrasos e 44,6 min de atraso médio, mesmo com apenas 94 voos. LGA → DEN (F9) tem 21,9 min de atraso em 681 voos. Distância não parece ser um fator determinante: Rotas curtas (CAE: 602 km) e longas (TUL: 1.215 km) aparecem entre as mais atrasadas. O problema parece ser operacional/local e não geográfico. Volume parece ter relação com os atrasos: EWR → RIC (EV) tem 1.615 voos e 25,8 min de atraso médio, mostrando que rotas movimentadas podem ter desempenho ruim.  F9 e FL (menores) têm alta taxa e severidade de atrasos. EV tem rotas extremamente problemáticas saindo de EWR. UA atrasa muito, mas pouco tempo. A distância não explica os atrasos,  a gestão operacional e as condições dos aeroportos de origem (EWR/LGA) são cruciais. </vt:lpstr>
      <vt:lpstr>Para a análise das aeronaves foi mantido o filtro de pelo menos 50 voos (~ 1 voo por semana).  EV (ExpressJet) domina o ranking de aeronaves problemáticas: Das 20 piores aeronaves, 15 são da EV. Atrasos severos: entre 23 a 30 minutos em média. Alta recorrência: taxa de atraso entre 46% e 61% (ou seja, mais da metade dos voos atrasavam).  Aeronaves mais críticas que demandam atenção: N11119 (EV): 30,3 min de atraso médio | 53,3% de atrasos | 137 voos. N16919 (EV) &amp; N14998 (EV): Alto atraso (≈28-30 min) com mais de 200 voos cada, impactando muitos passageiros. N989AT (DL): Maior taxa de atraso (61,3%) entre as top 20, indicando confiabilidade muito baixa.  Outras companhias com aeronaves problemáticas (isoladas) DL (Delta): 1 aeronave. 9E (Endeavor Air): 1. UA (United): 1 aeronave.  A análise das aeronaves revela que o problema de atrasos é estrutural e concentrado. A esmagadora maioria das aeronaves com pior desempenho pertence à ExpressJet (EV), indicando falhas crônicas na manutenção, gestão da frota ou operações da companhia.</vt:lpstr>
      <vt:lpstr>3. Existe algum padrão ou tendência nos atrasos? Se sim, o que pode ser feito para reduzi-los?</vt:lpstr>
      <vt:lpstr>Sugestões de Melhorias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Exploratória de Dados Atrasos em Voos Aéreos </dc:title>
  <dc:creator>Dell</dc:creator>
  <cp:lastModifiedBy>Dell</cp:lastModifiedBy>
  <cp:revision>25</cp:revision>
  <dcterms:created xsi:type="dcterms:W3CDTF">2025-12-05T17:23:06Z</dcterms:created>
  <dcterms:modified xsi:type="dcterms:W3CDTF">2025-12-09T01:46:09Z</dcterms:modified>
</cp:coreProperties>
</file>